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4384000" cy="13716000"/>
  <p:notesSz cx="6858000" cy="9144000"/>
  <p:embeddedFontLst>
    <p:embeddedFont>
      <p:font typeface="Pretendard Bold"/>
      <p:bold r:id="rId14"/>
    </p:embeddedFont>
    <p:embeddedFont>
      <p:font typeface="Pretendard SemiBold"/>
      <p:bold r:id="rId15"/>
    </p:embeddedFont>
    <p:embeddedFont>
      <p:font typeface="Pretendard Regular"/>
      <p:regular r:id="rId16"/>
    </p:embeddedFont>
    <p:embeddedFont>
      <p:font typeface="Pretendard Medium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17" Target="fonts/font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sksn12" TargetMode="External" Type="http://schemas.openxmlformats.org/officeDocument/2006/relationships/hyperlink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png" Type="http://schemas.openxmlformats.org/officeDocument/2006/relationships/image"/><Relationship Id="rId14" Target="../media/image11.png" Type="http://schemas.openxmlformats.org/officeDocument/2006/relationships/image"/><Relationship Id="rId15" Target="https://velog.io/@sksn123/posts" TargetMode="External" Type="http://schemas.openxmlformats.org/officeDocument/2006/relationships/hyperlink"/><Relationship Id="rId16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" TargetMode="External" Type="http://schemas.openxmlformats.org/officeDocument/2006/relationships/hyperlink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19" Target="../media/image30.png" Type="http://schemas.openxmlformats.org/officeDocument/2006/relationships/image"/><Relationship Id="rId2" Target="../media/image13.png" Type="http://schemas.openxmlformats.org/officeDocument/2006/relationships/image"/><Relationship Id="rId20" Target="../media/image31.png" Type="http://schemas.openxmlformats.org/officeDocument/2006/relationships/image"/><Relationship Id="rId21" Target="../media/image32.png" Type="http://schemas.openxmlformats.org/officeDocument/2006/relationships/image"/><Relationship Id="rId22" Target="../media/image33.png" Type="http://schemas.openxmlformats.org/officeDocument/2006/relationships/image"/><Relationship Id="rId23" Target="../media/image34.png" Type="http://schemas.openxmlformats.org/officeDocument/2006/relationships/image"/><Relationship Id="rId24" Target="../media/image35.png" Type="http://schemas.openxmlformats.org/officeDocument/2006/relationships/image"/><Relationship Id="rId25" Target="../media/image36.png" Type="http://schemas.openxmlformats.org/officeDocument/2006/relationships/image"/><Relationship Id="rId26" Target="../media/image37.png" Type="http://schemas.openxmlformats.org/officeDocument/2006/relationships/image"/><Relationship Id="rId27" Target="../media/image38.png" Type="http://schemas.openxmlformats.org/officeDocument/2006/relationships/image"/><Relationship Id="rId28" Target="../media/image39.png" Type="http://schemas.openxmlformats.org/officeDocument/2006/relationships/image"/><Relationship Id="rId29" Target="../media/image40.png" Type="http://schemas.openxmlformats.org/officeDocument/2006/relationships/image"/><Relationship Id="rId3" Target="../media/image14.png" Type="http://schemas.openxmlformats.org/officeDocument/2006/relationships/image"/><Relationship Id="rId30" Target="../media/image41.png" Type="http://schemas.openxmlformats.org/officeDocument/2006/relationships/image"/><Relationship Id="rId31" Target="../media/image42.png" Type="http://schemas.openxmlformats.org/officeDocument/2006/relationships/image"/><Relationship Id="rId32" Target="../media/image43.png" Type="http://schemas.openxmlformats.org/officeDocument/2006/relationships/image"/><Relationship Id="rId33" Target="../media/image44.png" Type="http://schemas.openxmlformats.org/officeDocument/2006/relationships/image"/><Relationship Id="rId34" Target="../media/image45.png" Type="http://schemas.openxmlformats.org/officeDocument/2006/relationships/image"/><Relationship Id="rId35" Target="../media/image46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14" Target="../media/image58.png" Type="http://schemas.openxmlformats.org/officeDocument/2006/relationships/image"/><Relationship Id="rId15" Target="../media/image59.png" Type="http://schemas.openxmlformats.org/officeDocument/2006/relationships/image"/><Relationship Id="rId16" Target="../media/image60.png" Type="http://schemas.openxmlformats.org/officeDocument/2006/relationships/image"/><Relationship Id="rId17" Target="../media/image61.png" Type="http://schemas.openxmlformats.org/officeDocument/2006/relationships/image"/><Relationship Id="rId18" Target="../media/image62.png" Type="http://schemas.openxmlformats.org/officeDocument/2006/relationships/image"/><Relationship Id="rId19" Target="../media/image63.png" Type="http://schemas.openxmlformats.org/officeDocument/2006/relationships/image"/><Relationship Id="rId2" Target="../media/image13.png" Type="http://schemas.openxmlformats.org/officeDocument/2006/relationships/image"/><Relationship Id="rId20" Target="../media/image64.png" Type="http://schemas.openxmlformats.org/officeDocument/2006/relationships/image"/><Relationship Id="rId21" Target="../media/image65.png" Type="http://schemas.openxmlformats.org/officeDocument/2006/relationships/image"/><Relationship Id="rId22" Target="../media/image66.png" Type="http://schemas.openxmlformats.org/officeDocument/2006/relationships/image"/><Relationship Id="rId23" Target="../media/image67.png" Type="http://schemas.openxmlformats.org/officeDocument/2006/relationships/image"/><Relationship Id="rId24" Target="../media/image68.png" Type="http://schemas.openxmlformats.org/officeDocument/2006/relationships/image"/><Relationship Id="rId25" Target="../media/image69.png" Type="http://schemas.openxmlformats.org/officeDocument/2006/relationships/image"/><Relationship Id="rId26" Target="../media/image70.png" Type="http://schemas.openxmlformats.org/officeDocument/2006/relationships/image"/><Relationship Id="rId27" Target="../media/image71.png" Type="http://schemas.openxmlformats.org/officeDocument/2006/relationships/image"/><Relationship Id="rId28" Target="../media/image72.png" Type="http://schemas.openxmlformats.org/officeDocument/2006/relationships/image"/><Relationship Id="rId29" Target="../media/image73.png" Type="http://schemas.openxmlformats.org/officeDocument/2006/relationships/image"/><Relationship Id="rId3" Target="../media/image47.png" Type="http://schemas.openxmlformats.org/officeDocument/2006/relationships/image"/><Relationship Id="rId30" Target="../media/image74.png" Type="http://schemas.openxmlformats.org/officeDocument/2006/relationships/image"/><Relationship Id="rId31" Target="../media/image75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14" Target="../media/image87.png" Type="http://schemas.openxmlformats.org/officeDocument/2006/relationships/image"/><Relationship Id="rId15" Target="../media/image88.png" Type="http://schemas.openxmlformats.org/officeDocument/2006/relationships/image"/><Relationship Id="rId16" Target="../media/image89.png" Type="http://schemas.openxmlformats.org/officeDocument/2006/relationships/image"/><Relationship Id="rId17" Target="../media/image90.png" Type="http://schemas.openxmlformats.org/officeDocument/2006/relationships/image"/><Relationship Id="rId18" Target="../media/image91.png" Type="http://schemas.openxmlformats.org/officeDocument/2006/relationships/image"/><Relationship Id="rId19" Target="../media/image92.png" Type="http://schemas.openxmlformats.org/officeDocument/2006/relationships/image"/><Relationship Id="rId2" Target="../media/image13.png" Type="http://schemas.openxmlformats.org/officeDocument/2006/relationships/image"/><Relationship Id="rId20" Target="../media/image93.png" Type="http://schemas.openxmlformats.org/officeDocument/2006/relationships/image"/><Relationship Id="rId21" Target="../media/image94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png" Type="http://schemas.openxmlformats.org/officeDocument/2006/relationships/image"/><Relationship Id="rId12" Target="../media/image89.png" Type="http://schemas.openxmlformats.org/officeDocument/2006/relationships/image"/><Relationship Id="rId13" Target="../media/image101.png" Type="http://schemas.openxmlformats.org/officeDocument/2006/relationships/image"/><Relationship Id="rId14" Target="../media/image102.png" Type="http://schemas.openxmlformats.org/officeDocument/2006/relationships/image"/><Relationship Id="rId15" Target="../media/image103.png" Type="http://schemas.openxmlformats.org/officeDocument/2006/relationships/image"/><Relationship Id="rId16" Target="../media/image104.png" Type="http://schemas.openxmlformats.org/officeDocument/2006/relationships/image"/><Relationship Id="rId17" Target="../media/image105.png" Type="http://schemas.openxmlformats.org/officeDocument/2006/relationships/image"/><Relationship Id="rId18" Target="../media/image91.png" Type="http://schemas.openxmlformats.org/officeDocument/2006/relationships/image"/><Relationship Id="rId19" Target="../media/image106.png" Type="http://schemas.openxmlformats.org/officeDocument/2006/relationships/image"/><Relationship Id="rId2" Target="../media/image13.png" Type="http://schemas.openxmlformats.org/officeDocument/2006/relationships/image"/><Relationship Id="rId20" Target="../media/image93.png" Type="http://schemas.openxmlformats.org/officeDocument/2006/relationships/image"/><Relationship Id="rId21" Target="../media/image107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../media/image97.png" Type="http://schemas.openxmlformats.org/officeDocument/2006/relationships/image"/><Relationship Id="rId8" Target="../media/image79.pn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81.png" Type="http://schemas.openxmlformats.org/officeDocument/2006/relationships/image"/><Relationship Id="rId12" Target="../media/image89.png" Type="http://schemas.openxmlformats.org/officeDocument/2006/relationships/image"/><Relationship Id="rId13" Target="../media/image113.png" Type="http://schemas.openxmlformats.org/officeDocument/2006/relationships/image"/><Relationship Id="rId14" Target="../media/image114.png" Type="http://schemas.openxmlformats.org/officeDocument/2006/relationships/image"/><Relationship Id="rId15" Target="../media/image103.png" Type="http://schemas.openxmlformats.org/officeDocument/2006/relationships/image"/><Relationship Id="rId16" Target="../media/image115.png" Type="http://schemas.openxmlformats.org/officeDocument/2006/relationships/image"/><Relationship Id="rId17" Target="../media/image116.png" Type="http://schemas.openxmlformats.org/officeDocument/2006/relationships/image"/><Relationship Id="rId18" Target="../media/image91.png" Type="http://schemas.openxmlformats.org/officeDocument/2006/relationships/image"/><Relationship Id="rId19" Target="../media/image117.png" Type="http://schemas.openxmlformats.org/officeDocument/2006/relationships/image"/><Relationship Id="rId2" Target="../media/image13.png" Type="http://schemas.openxmlformats.org/officeDocument/2006/relationships/image"/><Relationship Id="rId20" Target="../media/image118.png" Type="http://schemas.openxmlformats.org/officeDocument/2006/relationships/image"/><Relationship Id="rId21" Target="../media/image94.png" Type="http://schemas.openxmlformats.org/officeDocument/2006/relationships/image"/><Relationship Id="rId3" Target="../media/image108.png" Type="http://schemas.openxmlformats.org/officeDocument/2006/relationships/image"/><Relationship Id="rId4" Target="../media/image77.png" Type="http://schemas.openxmlformats.org/officeDocument/2006/relationships/image"/><Relationship Id="rId5" Target="../media/image109.pn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Relationship Id="rId8" Target="../media/image79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png" Type="http://schemas.openxmlformats.org/officeDocument/2006/relationships/image"/><Relationship Id="rId11" Target="../media/image81.png" Type="http://schemas.openxmlformats.org/officeDocument/2006/relationships/image"/><Relationship Id="rId12" Target="../media/image89.png" Type="http://schemas.openxmlformats.org/officeDocument/2006/relationships/image"/><Relationship Id="rId13" Target="../media/image123.png" Type="http://schemas.openxmlformats.org/officeDocument/2006/relationships/image"/><Relationship Id="rId14" Target="../media/image124.png" Type="http://schemas.openxmlformats.org/officeDocument/2006/relationships/image"/><Relationship Id="rId15" Target="../media/image103.png" Type="http://schemas.openxmlformats.org/officeDocument/2006/relationships/image"/><Relationship Id="rId16" Target="../media/image125.png" Type="http://schemas.openxmlformats.org/officeDocument/2006/relationships/image"/><Relationship Id="rId17" Target="../media/image85.png" Type="http://schemas.openxmlformats.org/officeDocument/2006/relationships/image"/><Relationship Id="rId18" Target="../media/image91.png" Type="http://schemas.openxmlformats.org/officeDocument/2006/relationships/image"/><Relationship Id="rId19" Target="../media/image126.png" Type="http://schemas.openxmlformats.org/officeDocument/2006/relationships/image"/><Relationship Id="rId2" Target="../media/image13.png" Type="http://schemas.openxmlformats.org/officeDocument/2006/relationships/image"/><Relationship Id="rId20" Target="../media/image118.png" Type="http://schemas.openxmlformats.org/officeDocument/2006/relationships/image"/><Relationship Id="rId21" Target="../media/image94.png" Type="http://schemas.openxmlformats.org/officeDocument/2006/relationships/image"/><Relationship Id="rId3" Target="../media/image108.png" Type="http://schemas.openxmlformats.org/officeDocument/2006/relationships/image"/><Relationship Id="rId4" Target="../media/image77.png" Type="http://schemas.openxmlformats.org/officeDocument/2006/relationships/image"/><Relationship Id="rId5" Target="../media/image119.png" Type="http://schemas.openxmlformats.org/officeDocument/2006/relationships/image"/><Relationship Id="rId6" Target="../media/image120.png" Type="http://schemas.openxmlformats.org/officeDocument/2006/relationships/image"/><Relationship Id="rId7" Target="../media/image121.png" Type="http://schemas.openxmlformats.org/officeDocument/2006/relationships/image"/><Relationship Id="rId8" Target="../media/image79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34.png" Type="http://schemas.openxmlformats.org/officeDocument/2006/relationships/image"/><Relationship Id="rId12" Target="../media/image135.png" Type="http://schemas.openxmlformats.org/officeDocument/2006/relationships/image"/><Relationship Id="rId13" Target="../media/image136.png" Type="http://schemas.openxmlformats.org/officeDocument/2006/relationships/image"/><Relationship Id="rId14" Target="../media/image137.png" Type="http://schemas.openxmlformats.org/officeDocument/2006/relationships/image"/><Relationship Id="rId15" Target="../media/image138.png" Type="http://schemas.openxmlformats.org/officeDocument/2006/relationships/image"/><Relationship Id="rId16" Target="../media/image139.png" Type="http://schemas.openxmlformats.org/officeDocument/2006/relationships/image"/><Relationship Id="rId17" Target="../media/image140.png" Type="http://schemas.openxmlformats.org/officeDocument/2006/relationships/image"/><Relationship Id="rId18" Target="../media/image141.png" Type="http://schemas.openxmlformats.org/officeDocument/2006/relationships/image"/><Relationship Id="rId19" Target="../media/image142.png" Type="http://schemas.openxmlformats.org/officeDocument/2006/relationships/image"/><Relationship Id="rId2" Target="../media/image13.png" Type="http://schemas.openxmlformats.org/officeDocument/2006/relationships/image"/><Relationship Id="rId20" Target="../media/image143.png" Type="http://schemas.openxmlformats.org/officeDocument/2006/relationships/image"/><Relationship Id="rId21" Target="../media/image144.png" Type="http://schemas.openxmlformats.org/officeDocument/2006/relationships/image"/><Relationship Id="rId22" Target="../media/image145.png" Type="http://schemas.openxmlformats.org/officeDocument/2006/relationships/image"/><Relationship Id="rId23" Target="https://github.com/sksn12/PLANIT" TargetMode="External" Type="http://schemas.openxmlformats.org/officeDocument/2006/relationships/hyperlink"/><Relationship Id="rId24" Target="../media/image146.png" Type="http://schemas.openxmlformats.org/officeDocument/2006/relationships/image"/><Relationship Id="rId25" Target="../media/image147.png" Type="http://schemas.openxmlformats.org/officeDocument/2006/relationships/image"/><Relationship Id="rId26" Target="../media/image148.png" Type="http://schemas.openxmlformats.org/officeDocument/2006/relationships/image"/><Relationship Id="rId27" Target="../media/image149.png" Type="http://schemas.openxmlformats.org/officeDocument/2006/relationships/image"/><Relationship Id="rId28" Target="../media/image150.png" Type="http://schemas.openxmlformats.org/officeDocument/2006/relationships/image"/><Relationship Id="rId29" Target="../media/image151.png" Type="http://schemas.openxmlformats.org/officeDocument/2006/relationships/image"/><Relationship Id="rId3" Target="../media/image127.png" Type="http://schemas.openxmlformats.org/officeDocument/2006/relationships/image"/><Relationship Id="rId30" Target="../media/image152.png" Type="http://schemas.openxmlformats.org/officeDocument/2006/relationships/image"/><Relationship Id="rId4" Target="../media/image128.png" Type="http://schemas.openxmlformats.org/officeDocument/2006/relationships/image"/><Relationship Id="rId5" Target="../media/image129.png" Type="http://schemas.openxmlformats.org/officeDocument/2006/relationships/image"/><Relationship Id="rId6" Target="../media/image130.png" Type="http://schemas.openxmlformats.org/officeDocument/2006/relationships/image"/><Relationship Id="rId7" Target="../media/image131.png" Type="http://schemas.openxmlformats.org/officeDocument/2006/relationships/image"/><Relationship Id="rId8" Target="../media/image132.png" Type="http://schemas.openxmlformats.org/officeDocument/2006/relationships/image"/><Relationship Id="rId9" Target="../media/image1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114300"/>
            <a:ext cx="24384000" cy="13830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426700" y="3098800"/>
            <a:ext cx="3949700" cy="191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80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김</a:t>
            </a:r>
            <a:r>
              <a:rPr lang="en-US" sz="1067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영만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72700" y="5143500"/>
            <a:ext cx="42799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874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백엔드 개발자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16700" y="6311900"/>
            <a:ext cx="122301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41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"문제의 본질을 파악하고 논리적으로 해결하는 것을 즐깁니다."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69500" y="2286000"/>
            <a:ext cx="4432300" cy="698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10800" y="2400300"/>
            <a:ext cx="42799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8" b="false" i="false" u="none" strike="noStrike">
                <a:solidFill>
                  <a:srgbClr val="267BDE"/>
                </a:solidFill>
                <a:latin typeface="Pretendard Regular"/>
                <a:ea typeface="Pretendard Regular"/>
                <a:cs typeface="Pretendard Regular"/>
              </a:rPr>
              <a:t>Backend Developer 1년경력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7531100"/>
            <a:ext cx="172466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43600" y="8293100"/>
            <a:ext cx="3759200" cy="787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97600" y="8509000"/>
            <a:ext cx="381000" cy="381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667500" y="8470900"/>
            <a:ext cx="29083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sksn12@naver.com</a:t>
            </a:r>
          </a:p>
        </p:txBody>
      </p:sp>
      <p:pic>
        <p:nvPicPr>
          <p:cNvPr name="Picture 12" id="12">
            <a:hlinkClick r:id="rId8" tooltip=""/>
          </p:cNvPr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11300" y="8293100"/>
            <a:ext cx="4813300" cy="78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27200" y="8458200"/>
            <a:ext cx="457200" cy="457200"/>
          </a:xfrm>
          <a:prstGeom prst="rect">
            <a:avLst/>
          </a:prstGeom>
        </p:spPr>
      </p:pic>
      <p:sp>
        <p:nvSpPr>
          <p:cNvPr name="TextBox 14" id="14">
            <a:hlinkClick r:id="rId10" tooltip="https://github.com/sksn12"/>
          </p:cNvPr>
          <p:cNvSpPr txBox="true"/>
          <p:nvPr/>
        </p:nvSpPr>
        <p:spPr>
          <a:xfrm rot="0">
            <a:off x="14846300" y="8470900"/>
            <a:ext cx="4102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46" b="false" i="false" u="sng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https://github.com/sksn12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99700" y="8293100"/>
            <a:ext cx="3314700" cy="787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528300" y="8458200"/>
            <a:ext cx="342900" cy="406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833100" y="8458200"/>
            <a:ext cx="25273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010-7683-2456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979400" y="9410700"/>
            <a:ext cx="3314700" cy="787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3335000" y="9575800"/>
            <a:ext cx="2882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46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인천 함박뫼로 439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208000" y="9613900"/>
            <a:ext cx="266700" cy="368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59600" y="9410700"/>
            <a:ext cx="5435600" cy="787400"/>
          </a:xfrm>
          <a:prstGeom prst="rect">
            <a:avLst/>
          </a:prstGeom>
        </p:spPr>
      </p:pic>
      <p:sp>
        <p:nvSpPr>
          <p:cNvPr name="TextBox 22" id="22">
            <a:hlinkClick r:id="rId15" tooltip="https://velog.io/@sksn123/posts"/>
          </p:cNvPr>
          <p:cNvSpPr txBox="true"/>
          <p:nvPr/>
        </p:nvSpPr>
        <p:spPr>
          <a:xfrm rot="0">
            <a:off x="7378700" y="9575800"/>
            <a:ext cx="5054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46" b="false" i="false" u="sng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https://velog.io/@sksn123/posts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12000" y="9601200"/>
            <a:ext cx="3937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8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1651000"/>
            <a:ext cx="222377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749300"/>
            <a:ext cx="889000" cy="889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68500" y="825500"/>
            <a:ext cx="2133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이력 소개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2146300"/>
            <a:ext cx="6832600" cy="2641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9500" y="5105400"/>
            <a:ext cx="6832600" cy="727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2146300"/>
            <a:ext cx="14909800" cy="459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3073400"/>
            <a:ext cx="6121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00200" y="2540000"/>
            <a:ext cx="431800" cy="317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146300" y="2476500"/>
            <a:ext cx="635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200" y="3238500"/>
            <a:ext cx="13716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인천대학교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200" y="3708400"/>
            <a:ext cx="1574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정보통신공학과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200" y="4114800"/>
            <a:ext cx="29591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2016.03 ~ 2022.08 (졸업)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5800" y="3708400"/>
            <a:ext cx="1041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3.41/4.5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6273800"/>
            <a:ext cx="61214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943100" y="5651500"/>
            <a:ext cx="927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자격증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98600" y="5638800"/>
            <a:ext cx="3429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49400" y="6604000"/>
            <a:ext cx="32639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TOEIC Speaking IM3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9400" y="7073900"/>
            <a:ext cx="2921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발행기관 : 한국TOEIC위원회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97400" y="7073900"/>
            <a:ext cx="2540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취득 일자 : 2026.01.22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5300" y="7073900"/>
            <a:ext cx="368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3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6700" y="7683500"/>
            <a:ext cx="17145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정보처리기사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6700" y="8153400"/>
            <a:ext cx="2819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발행기관 : 한국산업인력공단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97400" y="8153400"/>
            <a:ext cx="2540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취득 일자 : 2025.09.12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67200" y="8153400"/>
            <a:ext cx="368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3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9400" y="8775700"/>
            <a:ext cx="2171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리눅스마스터2급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6700" y="9245600"/>
            <a:ext cx="3314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발행기관 : 한국정보통신진흥협회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78400" y="9245600"/>
            <a:ext cx="2540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취득 일자 : 2024.10.04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48200" y="9232900"/>
            <a:ext cx="368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3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4800" y="9855200"/>
            <a:ext cx="17145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SQLD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4800" y="10325100"/>
            <a:ext cx="3276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발행기관 : 한국데이터산업진흥원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53000" y="10325100"/>
            <a:ext cx="2540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취득 일자 : 2024.06.21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73600" y="10325100"/>
            <a:ext cx="368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3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6700" y="10947400"/>
            <a:ext cx="3429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자동차 운전 면허 2종 보통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36700" y="11417300"/>
            <a:ext cx="3238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발행기관 : 운전면허시험관리단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889500" y="11417300"/>
            <a:ext cx="2540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취득 일자 : 2021.12.31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57700" y="11417300"/>
            <a:ext cx="368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3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50300" y="3060700"/>
            <a:ext cx="14211300" cy="127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9436100" y="2476500"/>
            <a:ext cx="1346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기술 스택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02700" y="2501900"/>
            <a:ext cx="482600" cy="3810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8902700" y="3340100"/>
            <a:ext cx="1168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Backend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02700" y="3721100"/>
            <a:ext cx="825500" cy="4953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9029700" y="3797300"/>
            <a:ext cx="711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Java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855200" y="3721100"/>
            <a:ext cx="1460500" cy="4953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9944100" y="3797300"/>
            <a:ext cx="1447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SpringBoot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442700" y="3721100"/>
            <a:ext cx="1193800" cy="4953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11569700" y="3797300"/>
            <a:ext cx="1003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MyBatis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63500" y="3721100"/>
            <a:ext cx="825500" cy="4953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12915900" y="3784600"/>
            <a:ext cx="55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JPA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703300" y="3721100"/>
            <a:ext cx="825500" cy="4953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906500" y="3810000"/>
            <a:ext cx="533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JSP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902700" y="4381500"/>
            <a:ext cx="1231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Frontend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902700" y="4775200"/>
            <a:ext cx="1549400" cy="4953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9042400" y="4851400"/>
            <a:ext cx="14351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HTML/CSS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230100" y="4775200"/>
            <a:ext cx="1003300" cy="4953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2407900" y="4851400"/>
            <a:ext cx="812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React</a:t>
            </a:r>
          </a:p>
        </p:txBody>
      </p:sp>
      <p:pic>
        <p:nvPicPr>
          <p:cNvPr name="Picture 57" id="5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591800" y="4775200"/>
            <a:ext cx="1485900" cy="495300"/>
          </a:xfrm>
          <a:prstGeom prst="rect">
            <a:avLst/>
          </a:prstGeom>
        </p:spPr>
      </p:pic>
      <p:sp>
        <p:nvSpPr>
          <p:cNvPr name="TextBox 58" id="58"/>
          <p:cNvSpPr txBox="true"/>
          <p:nvPr/>
        </p:nvSpPr>
        <p:spPr>
          <a:xfrm rot="0">
            <a:off x="10718800" y="4851400"/>
            <a:ext cx="13081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JavaScript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902700" y="5473700"/>
            <a:ext cx="1993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DataBase &amp; Infra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902700" y="5918200"/>
            <a:ext cx="1016000" cy="495300"/>
          </a:xfrm>
          <a:prstGeom prst="rect">
            <a:avLst/>
          </a:prstGeom>
        </p:spPr>
      </p:pic>
      <p:sp>
        <p:nvSpPr>
          <p:cNvPr name="TextBox 61" id="61"/>
          <p:cNvSpPr txBox="true"/>
          <p:nvPr/>
        </p:nvSpPr>
        <p:spPr>
          <a:xfrm rot="0">
            <a:off x="8991600" y="5994400"/>
            <a:ext cx="965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MySQL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259300" y="5918200"/>
            <a:ext cx="1117600" cy="495300"/>
          </a:xfrm>
          <a:prstGeom prst="rect">
            <a:avLst/>
          </a:prstGeom>
        </p:spPr>
      </p:pic>
      <p:sp>
        <p:nvSpPr>
          <p:cNvPr name="TextBox 63" id="63"/>
          <p:cNvSpPr txBox="true"/>
          <p:nvPr/>
        </p:nvSpPr>
        <p:spPr>
          <a:xfrm rot="0">
            <a:off x="17411700" y="5994400"/>
            <a:ext cx="901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Docker</a:t>
            </a:r>
          </a:p>
        </p:txBody>
      </p:sp>
      <p:pic>
        <p:nvPicPr>
          <p:cNvPr name="Picture 64" id="6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798800" y="5918200"/>
            <a:ext cx="1333500" cy="4953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15925800" y="5994400"/>
            <a:ext cx="1231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AWS EC2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058400" y="5918200"/>
            <a:ext cx="1193800" cy="495300"/>
          </a:xfrm>
          <a:prstGeom prst="rect">
            <a:avLst/>
          </a:prstGeom>
        </p:spPr>
      </p:pic>
      <p:sp>
        <p:nvSpPr>
          <p:cNvPr name="TextBox 67" id="67"/>
          <p:cNvSpPr txBox="true"/>
          <p:nvPr/>
        </p:nvSpPr>
        <p:spPr>
          <a:xfrm rot="0">
            <a:off x="10160000" y="5994400"/>
            <a:ext cx="1117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MS-SQL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379200" y="5918200"/>
            <a:ext cx="1219200" cy="495300"/>
          </a:xfrm>
          <a:prstGeom prst="rect">
            <a:avLst/>
          </a:prstGeom>
        </p:spPr>
      </p:pic>
      <p:sp>
        <p:nvSpPr>
          <p:cNvPr name="TextBox 69" id="69"/>
          <p:cNvSpPr txBox="true"/>
          <p:nvPr/>
        </p:nvSpPr>
        <p:spPr>
          <a:xfrm rot="0">
            <a:off x="11506200" y="5994400"/>
            <a:ext cx="1066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MariaDB</a:t>
            </a:r>
          </a:p>
        </p:txBody>
      </p:sp>
      <p:pic>
        <p:nvPicPr>
          <p:cNvPr name="Picture 70" id="7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738100" y="5918200"/>
            <a:ext cx="2921000" cy="4953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12928600" y="5994400"/>
            <a:ext cx="2692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Naver-Cloud-Platform</a:t>
            </a:r>
          </a:p>
        </p:txBody>
      </p:sp>
      <p:pic>
        <p:nvPicPr>
          <p:cNvPr name="Picture 72" id="7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516600" y="5918200"/>
            <a:ext cx="825500" cy="495300"/>
          </a:xfrm>
          <a:prstGeom prst="rect">
            <a:avLst/>
          </a:prstGeom>
        </p:spPr>
      </p:pic>
      <p:sp>
        <p:nvSpPr>
          <p:cNvPr name="TextBox 73" id="73"/>
          <p:cNvSpPr txBox="true"/>
          <p:nvPr/>
        </p:nvSpPr>
        <p:spPr>
          <a:xfrm rot="0">
            <a:off x="18770600" y="5994400"/>
            <a:ext cx="469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S3</a:t>
            </a:r>
          </a:p>
        </p:txBody>
      </p:sp>
      <p:pic>
        <p:nvPicPr>
          <p:cNvPr name="Picture 74" id="7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9469100" y="5918200"/>
            <a:ext cx="1016000" cy="495300"/>
          </a:xfrm>
          <a:prstGeom prst="rect">
            <a:avLst/>
          </a:prstGeom>
        </p:spPr>
      </p:pic>
      <p:sp>
        <p:nvSpPr>
          <p:cNvPr name="TextBox 75" id="75"/>
          <p:cNvSpPr txBox="true"/>
          <p:nvPr/>
        </p:nvSpPr>
        <p:spPr>
          <a:xfrm rot="0">
            <a:off x="19621500" y="5994400"/>
            <a:ext cx="787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Nginx</a:t>
            </a:r>
          </a:p>
        </p:txBody>
      </p:sp>
      <p:pic>
        <p:nvPicPr>
          <p:cNvPr name="Picture 76" id="7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0624800" y="5918200"/>
            <a:ext cx="1193800" cy="495300"/>
          </a:xfrm>
          <a:prstGeom prst="rect">
            <a:avLst/>
          </a:prstGeom>
        </p:spPr>
      </p:pic>
      <p:sp>
        <p:nvSpPr>
          <p:cNvPr name="TextBox 77" id="77"/>
          <p:cNvSpPr txBox="true"/>
          <p:nvPr/>
        </p:nvSpPr>
        <p:spPr>
          <a:xfrm rot="0">
            <a:off x="20777200" y="5994400"/>
            <a:ext cx="1028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Jenkins</a:t>
            </a:r>
          </a:p>
        </p:txBody>
      </p:sp>
      <p:pic>
        <p:nvPicPr>
          <p:cNvPr name="Picture 78" id="7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394700" y="7010400"/>
            <a:ext cx="9563100" cy="53848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902700" y="7810500"/>
            <a:ext cx="8839200" cy="12700"/>
          </a:xfrm>
          <a:prstGeom prst="rect">
            <a:avLst/>
          </a:prstGeom>
        </p:spPr>
      </p:pic>
      <p:sp>
        <p:nvSpPr>
          <p:cNvPr name="TextBox 80" id="80"/>
          <p:cNvSpPr txBox="true"/>
          <p:nvPr/>
        </p:nvSpPr>
        <p:spPr>
          <a:xfrm rot="0">
            <a:off x="9474200" y="7264400"/>
            <a:ext cx="2235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역량 &amp; 강점</a:t>
            </a:r>
          </a:p>
        </p:txBody>
      </p:sp>
      <p:pic>
        <p:nvPicPr>
          <p:cNvPr name="Picture 81" id="8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9017000" y="7315200"/>
            <a:ext cx="368300" cy="3556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042400" y="8140700"/>
            <a:ext cx="304800" cy="304800"/>
          </a:xfrm>
          <a:prstGeom prst="rect">
            <a:avLst/>
          </a:prstGeom>
        </p:spPr>
      </p:pic>
      <p:sp>
        <p:nvSpPr>
          <p:cNvPr name="TextBox 83" id="83"/>
          <p:cNvSpPr txBox="true"/>
          <p:nvPr/>
        </p:nvSpPr>
        <p:spPr>
          <a:xfrm rot="0">
            <a:off x="9448800" y="8128000"/>
            <a:ext cx="1524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기술적 집요함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448800" y="8534400"/>
            <a:ext cx="8343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동작하는 코드를 넘어, 내부 원리를 파고들어 최적의 효율을 찾아냅니다</a:t>
            </a:r>
          </a:p>
        </p:txBody>
      </p:sp>
      <p:pic>
        <p:nvPicPr>
          <p:cNvPr name="Picture 85" id="8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017000" y="9105900"/>
            <a:ext cx="304800" cy="304800"/>
          </a:xfrm>
          <a:prstGeom prst="rect">
            <a:avLst/>
          </a:prstGeom>
        </p:spPr>
      </p:pic>
      <p:sp>
        <p:nvSpPr>
          <p:cNvPr name="TextBox 86" id="86"/>
          <p:cNvSpPr txBox="true"/>
          <p:nvPr/>
        </p:nvSpPr>
        <p:spPr>
          <a:xfrm rot="0">
            <a:off x="9423400" y="9093200"/>
            <a:ext cx="2540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비즈니스 및 사용자 중심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423400" y="9499600"/>
            <a:ext cx="8343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기술적 구현을 넘어 사용자 경험(UX)과 서비스의 비즈니스 가치를 먼저 고민합니다</a:t>
            </a:r>
          </a:p>
        </p:txBody>
      </p:sp>
      <p:pic>
        <p:nvPicPr>
          <p:cNvPr name="Picture 88" id="8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017000" y="10071100"/>
            <a:ext cx="304800" cy="304800"/>
          </a:xfrm>
          <a:prstGeom prst="rect">
            <a:avLst/>
          </a:prstGeom>
        </p:spPr>
      </p:pic>
      <p:sp>
        <p:nvSpPr>
          <p:cNvPr name="TextBox 89" id="89"/>
          <p:cNvSpPr txBox="true"/>
          <p:nvPr/>
        </p:nvSpPr>
        <p:spPr>
          <a:xfrm rot="0">
            <a:off x="9423400" y="10058400"/>
            <a:ext cx="1524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협업과 성장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423400" y="10464800"/>
            <a:ext cx="8343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나의 지식을 공유하고 동료의 피드백을 수용하며 팀과 함께 성장하는 것을 즐깁니다.</a:t>
            </a:r>
          </a:p>
        </p:txBody>
      </p:sp>
      <p:pic>
        <p:nvPicPr>
          <p:cNvPr name="Picture 91" id="9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017000" y="11087100"/>
            <a:ext cx="304800" cy="304800"/>
          </a:xfrm>
          <a:prstGeom prst="rect">
            <a:avLst/>
          </a:prstGeom>
        </p:spPr>
      </p:pic>
      <p:sp>
        <p:nvSpPr>
          <p:cNvPr name="TextBox 92" id="92"/>
          <p:cNvSpPr txBox="true"/>
          <p:nvPr/>
        </p:nvSpPr>
        <p:spPr>
          <a:xfrm rot="0">
            <a:off x="9423400" y="11074400"/>
            <a:ext cx="15240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해결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423400" y="11417300"/>
            <a:ext cx="8343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장애 발생 시 임시방편에 그치지 않고 사후 분석을 통해 재발 방지책을 마련합니다.</a:t>
            </a:r>
          </a:p>
        </p:txBody>
      </p:sp>
      <p:pic>
        <p:nvPicPr>
          <p:cNvPr name="Picture 94" id="9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313400" y="7010400"/>
            <a:ext cx="4787900" cy="53848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529300" y="7861300"/>
            <a:ext cx="4356100" cy="12700"/>
          </a:xfrm>
          <a:prstGeom prst="rect">
            <a:avLst/>
          </a:prstGeom>
        </p:spPr>
      </p:pic>
      <p:sp>
        <p:nvSpPr>
          <p:cNvPr name="TextBox 96" id="96"/>
          <p:cNvSpPr txBox="true"/>
          <p:nvPr/>
        </p:nvSpPr>
        <p:spPr>
          <a:xfrm rot="0">
            <a:off x="19151600" y="7315200"/>
            <a:ext cx="27686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수상 및 학내외 활동</a:t>
            </a:r>
          </a:p>
        </p:txBody>
      </p:sp>
      <p:pic>
        <p:nvPicPr>
          <p:cNvPr name="Picture 97" id="9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8567400" y="7264400"/>
            <a:ext cx="406400" cy="5334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681700" y="8216900"/>
            <a:ext cx="304800" cy="304800"/>
          </a:xfrm>
          <a:prstGeom prst="rect">
            <a:avLst/>
          </a:prstGeom>
        </p:spPr>
      </p:pic>
      <p:sp>
        <p:nvSpPr>
          <p:cNvPr name="TextBox 99" id="99"/>
          <p:cNvSpPr txBox="true"/>
          <p:nvPr/>
        </p:nvSpPr>
        <p:spPr>
          <a:xfrm rot="0">
            <a:off x="19088100" y="8191500"/>
            <a:ext cx="3327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삼성 청년 소프트웨어 아카데미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9088100" y="8534400"/>
            <a:ext cx="3848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2022.07.06 ~ 2023.06.30</a:t>
            </a:r>
          </a:p>
        </p:txBody>
      </p:sp>
      <p:pic>
        <p:nvPicPr>
          <p:cNvPr name="Picture 101" id="10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681700" y="9093200"/>
            <a:ext cx="304800" cy="304800"/>
          </a:xfrm>
          <a:prstGeom prst="rect">
            <a:avLst/>
          </a:prstGeom>
        </p:spPr>
      </p:pic>
      <p:sp>
        <p:nvSpPr>
          <p:cNvPr name="TextBox 102" id="102"/>
          <p:cNvSpPr txBox="true"/>
          <p:nvPr/>
        </p:nvSpPr>
        <p:spPr>
          <a:xfrm rot="0">
            <a:off x="19088100" y="9067800"/>
            <a:ext cx="3327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원티드 프리온보딩 프론트엔드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9088100" y="9410700"/>
            <a:ext cx="3848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2022.05.03 ~ 2022.07.01</a:t>
            </a:r>
          </a:p>
        </p:txBody>
      </p:sp>
      <p:pic>
        <p:nvPicPr>
          <p:cNvPr name="Picture 104" id="10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681700" y="10833100"/>
            <a:ext cx="304800" cy="304800"/>
          </a:xfrm>
          <a:prstGeom prst="rect">
            <a:avLst/>
          </a:prstGeom>
        </p:spPr>
      </p:pic>
      <p:sp>
        <p:nvSpPr>
          <p:cNvPr name="TextBox 105" id="105"/>
          <p:cNvSpPr txBox="true"/>
          <p:nvPr/>
        </p:nvSpPr>
        <p:spPr>
          <a:xfrm rot="0">
            <a:off x="19088100" y="10807700"/>
            <a:ext cx="37846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삼성 청년 SW 아카데미 공통프로젝트 우수상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9824700" y="11176000"/>
            <a:ext cx="3848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2023.02.17</a:t>
            </a:r>
          </a:p>
        </p:txBody>
      </p:sp>
      <p:pic>
        <p:nvPicPr>
          <p:cNvPr name="Picture 107" id="107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681700" y="9969500"/>
            <a:ext cx="304800" cy="304800"/>
          </a:xfrm>
          <a:prstGeom prst="rect">
            <a:avLst/>
          </a:prstGeom>
        </p:spPr>
      </p:pic>
      <p:sp>
        <p:nvSpPr>
          <p:cNvPr name="TextBox 108" id="108"/>
          <p:cNvSpPr txBox="true"/>
          <p:nvPr/>
        </p:nvSpPr>
        <p:spPr>
          <a:xfrm rot="0">
            <a:off x="19088100" y="9931400"/>
            <a:ext cx="3327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멋쟁이사자처럼 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9088100" y="10274300"/>
            <a:ext cx="3848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2020.05.04~ 2020.10.14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8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2146300"/>
            <a:ext cx="222377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08200" y="825500"/>
            <a:ext cx="2133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경력 사항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57300" y="965200"/>
            <a:ext cx="609600" cy="889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108200" y="1574800"/>
            <a:ext cx="6248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회사명 : 이도 / 역할 : 사내 시스템 운영 및 개발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97500" y="1409700"/>
            <a:ext cx="5130800" cy="596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8719800" y="1460500"/>
            <a:ext cx="46101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7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2024.01.02 ~ 2025.03.31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86400" y="1435100"/>
            <a:ext cx="5334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7300" y="6311900"/>
            <a:ext cx="5130800" cy="5321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7300" y="6311900"/>
            <a:ext cx="5130800" cy="532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7300" y="6311900"/>
            <a:ext cx="5130800" cy="532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7300" y="6311900"/>
            <a:ext cx="5334000" cy="655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6870700"/>
            <a:ext cx="16294100" cy="5994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6870700"/>
            <a:ext cx="16294100" cy="599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16800" y="7213600"/>
            <a:ext cx="393700" cy="330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861300" y="7150100"/>
            <a:ext cx="2362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주요 성과 및 지표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62100" y="7061200"/>
            <a:ext cx="393700" cy="3937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955800" y="7035800"/>
            <a:ext cx="13335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사용 기술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7300" y="2603500"/>
            <a:ext cx="5334000" cy="3492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930400" y="2857500"/>
            <a:ext cx="1435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역할 요약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47800" y="2832100"/>
            <a:ext cx="469900" cy="469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955800" y="3416300"/>
            <a:ext cx="1562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POSITION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55800" y="3759200"/>
            <a:ext cx="2857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Full-Stack Developer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55800" y="4241800"/>
            <a:ext cx="18669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TEAM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55800" y="4559300"/>
            <a:ext cx="2857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IT사업팀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55800" y="5041900"/>
            <a:ext cx="19558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RESPONSIBILITY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55800" y="5384800"/>
            <a:ext cx="2857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사내 시스템 운영 및 개발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62100" y="7683500"/>
            <a:ext cx="825500" cy="495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689100" y="7785100"/>
            <a:ext cx="711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Java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514600" y="7708900"/>
            <a:ext cx="1460500" cy="495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2603500" y="7785100"/>
            <a:ext cx="1447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SpringBoot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102100" y="7708900"/>
            <a:ext cx="1193800" cy="4953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4229100" y="7785100"/>
            <a:ext cx="1003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MyBatis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422900" y="7708900"/>
            <a:ext cx="825500" cy="4953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5575300" y="7785100"/>
            <a:ext cx="55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JPA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62100" y="8356600"/>
            <a:ext cx="825500" cy="4953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765300" y="8445500"/>
            <a:ext cx="533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JSP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975100" y="8356600"/>
            <a:ext cx="1206500" cy="4953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4152900" y="8432800"/>
            <a:ext cx="1041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MySQL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527300" y="8356600"/>
            <a:ext cx="1308100" cy="4953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2616200" y="8432800"/>
            <a:ext cx="13081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QueryDSL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62100" y="9029700"/>
            <a:ext cx="1308100" cy="4953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752600" y="9105900"/>
            <a:ext cx="1117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MS-SQL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3009900" y="9029700"/>
            <a:ext cx="977900" cy="4953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3175000" y="9105900"/>
            <a:ext cx="787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React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140200" y="9029700"/>
            <a:ext cx="1562100" cy="4953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4292600" y="9105900"/>
            <a:ext cx="1346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HTML/CSS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62100" y="9702800"/>
            <a:ext cx="1562100" cy="4953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1714500" y="9779000"/>
            <a:ext cx="1346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JavaScript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302000" y="9702800"/>
            <a:ext cx="1155700" cy="4953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3403600" y="9779000"/>
            <a:ext cx="1003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Jenkins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622800" y="9702800"/>
            <a:ext cx="1206500" cy="495300"/>
          </a:xfrm>
          <a:prstGeom prst="rect">
            <a:avLst/>
          </a:prstGeom>
        </p:spPr>
      </p:pic>
      <p:sp>
        <p:nvSpPr>
          <p:cNvPr name="TextBox 53" id="53"/>
          <p:cNvSpPr txBox="true"/>
          <p:nvPr/>
        </p:nvSpPr>
        <p:spPr>
          <a:xfrm rot="0">
            <a:off x="4737100" y="9779000"/>
            <a:ext cx="10541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PinPoint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62100" y="10375900"/>
            <a:ext cx="3060700" cy="495300"/>
          </a:xfrm>
          <a:prstGeom prst="rect">
            <a:avLst/>
          </a:prstGeom>
        </p:spPr>
      </p:pic>
      <p:sp>
        <p:nvSpPr>
          <p:cNvPr name="TextBox 55" id="55"/>
          <p:cNvSpPr txBox="true"/>
          <p:nvPr/>
        </p:nvSpPr>
        <p:spPr>
          <a:xfrm rot="0">
            <a:off x="1828800" y="10452100"/>
            <a:ext cx="2806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Naver-Cloud-Platform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6972300" y="2603500"/>
            <a:ext cx="16332200" cy="4038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416800" y="2882900"/>
            <a:ext cx="304800" cy="406400"/>
          </a:xfrm>
          <a:prstGeom prst="rect">
            <a:avLst/>
          </a:prstGeom>
        </p:spPr>
      </p:pic>
      <p:sp>
        <p:nvSpPr>
          <p:cNvPr name="TextBox 58" id="58"/>
          <p:cNvSpPr txBox="true"/>
          <p:nvPr/>
        </p:nvSpPr>
        <p:spPr>
          <a:xfrm rot="0">
            <a:off x="7823200" y="2844800"/>
            <a:ext cx="189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주요 업무 내용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937500" y="3644900"/>
            <a:ext cx="153035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성능 최적화 및 UX 개선 : </a:t>
            </a:r>
            <a:r>
              <a:rPr lang="en-US" sz="2074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150만 건 대용량 데이터 쿼리에 복합 인덱스를 설계하여 통계 API 응답 속도를 20배(2s → 0.1s) 향상
                                           LCP 40% 개선 및 이미지 최적화를 통해 사진 목록 페이지의 사용자 이탈률 감소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937500" y="4686300"/>
            <a:ext cx="153035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아키텍처 설계 및 비용 절감 : </a:t>
            </a:r>
            <a:r>
              <a:rPr lang="en-US" sz="2074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 팩토리, 전략 패턴을 활용한 동적 아키텍처 설계로 전국 사업장 코드베이스를 통합하고 연 2,000만 원의 비용을 절감
                                                정적 구조를 유연한 엔티티 주입 방식으로 개편하여 신규 현장 대응 속도와 코드 재사용성 향상</a:t>
            </a:r>
          </a:p>
        </p:txBody>
      </p:sp>
      <p:pic>
        <p:nvPicPr>
          <p:cNvPr name="Picture 61" id="6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7531100" y="3746500"/>
            <a:ext cx="177800" cy="1778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531100" y="4787900"/>
            <a:ext cx="177800" cy="177800"/>
          </a:xfrm>
          <a:prstGeom prst="rect">
            <a:avLst/>
          </a:prstGeom>
        </p:spPr>
      </p:pic>
      <p:sp>
        <p:nvSpPr>
          <p:cNvPr name="TextBox 63" id="63"/>
          <p:cNvSpPr txBox="true"/>
          <p:nvPr/>
        </p:nvSpPr>
        <p:spPr>
          <a:xfrm rot="0">
            <a:off x="7937500" y="5727700"/>
            <a:ext cx="153035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7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프로세스 자동화 및 보안 : </a:t>
            </a:r>
            <a:r>
              <a:rPr lang="en-US" sz="2074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 Shannon 엔트로피 기반 탐지 스크립트를 직접 개발하여 하드코딩된 보안 키 노출을 원천 차단</a:t>
            </a:r>
          </a:p>
        </p:txBody>
      </p:sp>
      <p:pic>
        <p:nvPicPr>
          <p:cNvPr name="Picture 64" id="64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7531100" y="5816600"/>
            <a:ext cx="177800" cy="1778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178800" y="7797800"/>
            <a:ext cx="6832600" cy="2286000"/>
          </a:xfrm>
          <a:prstGeom prst="rect">
            <a:avLst/>
          </a:prstGeom>
        </p:spPr>
      </p:pic>
      <p:sp>
        <p:nvSpPr>
          <p:cNvPr name="TextBox 66" id="66"/>
          <p:cNvSpPr txBox="true"/>
          <p:nvPr/>
        </p:nvSpPr>
        <p:spPr>
          <a:xfrm rot="0">
            <a:off x="8648700" y="8229600"/>
            <a:ext cx="7874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95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283700" y="8470900"/>
            <a:ext cx="3683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tru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%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648700" y="8966200"/>
            <a:ext cx="2451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API 응답 속도 개선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648700" y="9321800"/>
            <a:ext cx="59944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74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복합 인덱스 설계로 API 응답 속도를 20배(2s → 0.1s) 향상</a:t>
            </a:r>
          </a:p>
        </p:txBody>
      </p:sp>
      <p:pic>
        <p:nvPicPr>
          <p:cNvPr name="Picture 70" id="7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265400" y="7797800"/>
            <a:ext cx="6832600" cy="22860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15722600" y="8229600"/>
            <a:ext cx="7874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15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294100" y="8470900"/>
            <a:ext cx="3683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tru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%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722600" y="8966200"/>
            <a:ext cx="2451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15% 사용자 이탈율 감소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5722600" y="9321800"/>
            <a:ext cx="61214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74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LCP 40% 개선 및 이미지 최적화를 통해 사용자 이탈률 감소</a:t>
            </a:r>
          </a:p>
        </p:txBody>
      </p:sp>
      <p:pic>
        <p:nvPicPr>
          <p:cNvPr name="Picture 75" id="7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178800" y="10312400"/>
            <a:ext cx="6832600" cy="2286000"/>
          </a:xfrm>
          <a:prstGeom prst="rect">
            <a:avLst/>
          </a:prstGeom>
        </p:spPr>
      </p:pic>
      <p:sp>
        <p:nvSpPr>
          <p:cNvPr name="TextBox 76" id="76"/>
          <p:cNvSpPr txBox="true"/>
          <p:nvPr/>
        </p:nvSpPr>
        <p:spPr>
          <a:xfrm rot="0">
            <a:off x="8648700" y="10744200"/>
            <a:ext cx="14986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2000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944100" y="10998200"/>
            <a:ext cx="6985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tru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만원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48700" y="11480800"/>
            <a:ext cx="33782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차세대 환경 업무 관리 시스템 개발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648700" y="11836400"/>
            <a:ext cx="6197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팩토리, 전략 패턴을 활용한 동적 아키텍처 설계로 전국 사업장 코드베이스를 통합</a:t>
            </a:r>
          </a:p>
        </p:txBody>
      </p:sp>
      <p:pic>
        <p:nvPicPr>
          <p:cNvPr name="Picture 80" id="8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265400" y="10312400"/>
            <a:ext cx="6832600" cy="2286000"/>
          </a:xfrm>
          <a:prstGeom prst="rect">
            <a:avLst/>
          </a:prstGeom>
        </p:spPr>
      </p:pic>
      <p:sp>
        <p:nvSpPr>
          <p:cNvPr name="TextBox 81" id="81"/>
          <p:cNvSpPr txBox="true"/>
          <p:nvPr/>
        </p:nvSpPr>
        <p:spPr>
          <a:xfrm rot="0">
            <a:off x="15722600" y="10718800"/>
            <a:ext cx="22606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08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보안향상 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722600" y="11480800"/>
            <a:ext cx="37338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하드 코딩된 API 탐지 스크립트 개발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5722600" y="11836400"/>
            <a:ext cx="5994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41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Shannon 엔트로피 기반 탐지 스크립트를 개발하여 키 노출을 원천 차단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8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1727200"/>
            <a:ext cx="222377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06600" y="812800"/>
            <a:ext cx="345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문제 해결 사례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711200"/>
            <a:ext cx="9398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32200" y="7632700"/>
            <a:ext cx="106426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2324100"/>
            <a:ext cx="9525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8900" y="2451100"/>
            <a:ext cx="6985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43307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97000" y="4508500"/>
            <a:ext cx="5842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6337300"/>
            <a:ext cx="952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1300" y="6540500"/>
            <a:ext cx="381000" cy="55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1900" y="8763000"/>
            <a:ext cx="9525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7000" y="8978900"/>
            <a:ext cx="6096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272000" y="1054100"/>
            <a:ext cx="60452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475200" y="1104900"/>
            <a:ext cx="5765800" cy="495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84500" y="2324100"/>
            <a:ext cx="19850100" cy="1790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3365500" y="30988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외주 의존형 시스템으로 인해 발생하는 연간 약 2,000만 원의 높은 유지보수 비용</a:t>
            </a:r>
            <a:b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en-US" sz="2208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현장 담당자가 동일 정보를 중복 입력해야 하는 비효율적인 업무 프로세스 존재</a:t>
            </a:r>
            <a:br>
              <a:rPr lang="en-US" sz="2208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</a:br>
          </a:p>
        </p:txBody>
      </p:sp>
      <p:sp>
        <p:nvSpPr>
          <p:cNvPr name="TextBox 18" id="18"/>
          <p:cNvSpPr txBox="true"/>
          <p:nvPr/>
        </p:nvSpPr>
        <p:spPr>
          <a:xfrm rot="0">
            <a:off x="3365500" y="25908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상황 (Problem)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984500" y="4330700"/>
            <a:ext cx="19850100" cy="1790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3365500" y="45974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원인 분석 (Analysis)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65500" y="50927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사업소별로 상이한 DB 구조와 각 현장마다 조금씩 다른 업무 구조
</a:t>
            </a:r>
            <a:r>
              <a:rPr lang="en-US" sz="2208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  <a:t>현공공기관 EDI 문서 규격과 현장 데이터 간의 자동 연동 체계 부재</a:t>
            </a:r>
            <a:br>
              <a:rPr lang="en-US" sz="2208" b="false" i="false" u="none" strike="noStrike">
                <a:solidFill>
                  <a:srgbClr val="787878"/>
                </a:solidFill>
                <a:latin typeface="Pretendard SemiBold"/>
                <a:ea typeface="Pretendard SemiBold"/>
                <a:cs typeface="Pretendard SemiBold"/>
              </a:rPr>
            </a:b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984500" y="6337300"/>
            <a:ext cx="19850100" cy="2146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3365500" y="66040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해결 접근 (Solution)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65500" y="7035800"/>
            <a:ext cx="153162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1. 전략(Strategy) 및 팩토리(Factory) 패턴을 활용하여 현장별 로직을 처리하는 동적 아키텍처 설계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2. 현장별 엔티티 주입 방식을 통해 전국 사업소를 수용하는 통합 시스템 구축</a:t>
            </a:r>
          </a:p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3. EDI 규격 분석을 통한 데이터 자동 전송 구현으로 중복 입력 원천 제거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984500" y="8763000"/>
            <a:ext cx="19850100" cy="1828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3365500" y="90170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결과 (Result)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65500" y="9486900"/>
            <a:ext cx="15316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비용 절감 : 시스템 자체 개발 및 내재화로 연간 약 </a:t>
            </a:r>
            <a:r>
              <a:rPr lang="en-US" sz="2474" b="false" i="false" u="none" strike="noStrike">
                <a:solidFill>
                  <a:srgbClr val="568A35"/>
                </a:solidFill>
                <a:latin typeface="Pretendard SemiBold"/>
                <a:ea typeface="Pretendard SemiBold"/>
                <a:cs typeface="Pretendard SemiBold"/>
              </a:rPr>
              <a:t>2,000만 원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운영비 절감.
업무 효율 : 단순 반복 업무 제거를 통한 현장 담당자 업무 만족도 및 생산성 향상, 단일 코드베이스 통합 관리로 신규 요구사항 대응 속도 향상
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31900" y="10858500"/>
            <a:ext cx="952500" cy="952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73200" y="11049000"/>
            <a:ext cx="5461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984500" y="10858500"/>
            <a:ext cx="19850100" cy="18288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365500" y="111633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회고 (Review)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65500" y="11620500"/>
            <a:ext cx="19329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현장을 직접 발로 뛰며 실무자의 목소리를 들었을 때, 진짜 필요한 기술적 해답을 찾을 수 있다는 것을 깨달았습니다. 
또한, 초기 설계 단계에서 확장성을 고려한 디자인 패턴 적용이 장기적으로 시스템의 수명을 늘리고 비용을 낮추는 데 얼마나 결정적인 역할을 하는지 깊이 실감했습니다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8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1727200"/>
            <a:ext cx="222377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06600" y="812800"/>
            <a:ext cx="345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문제 해결 사례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711200"/>
            <a:ext cx="9398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32200" y="7632700"/>
            <a:ext cx="106426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80300" y="1104900"/>
            <a:ext cx="31242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396200" y="1117600"/>
            <a:ext cx="27686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241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58900" y="2451100"/>
            <a:ext cx="6985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84500" y="2324100"/>
            <a:ext cx="19850100" cy="1790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365500" y="30988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출입 통계 API 응답 시간이 2초 이상 소요됨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응답 지연으로 인한 서비스 이용 불편 및 사용자 불만 급증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5500" y="25908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상황 (Problem)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9200" y="4470400"/>
            <a:ext cx="952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0" y="4648200"/>
            <a:ext cx="5842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84500" y="4470400"/>
            <a:ext cx="19850100" cy="179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365500" y="4737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원인 분석 (Analysis)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65500" y="52324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APM(Pinpoint) 분석 결과, 약 150만 건의 대규모 출입 로그 조회 시 병목 발생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조회 쿼리가 인덱스를 타지 못하고 과도한 조인(Join)과 함께 Full Table Scan 수행 확인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1900" y="6629400"/>
            <a:ext cx="952500" cy="952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11300" y="6819900"/>
            <a:ext cx="3810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84500" y="6629400"/>
            <a:ext cx="19850100" cy="1663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3365500" y="6896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해결 접근 (Solution)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5500" y="73279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1. 인덱스 설계: 데이터 분포(카디널리티)를 분석하여 [학교 ID - 날짜 - 학생 ID] 순의 복합 인덱스 생성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2. 쿼리 최적화: 실행 계획 분석을 통해 불필요한 조인 연산을 제거하고 인덱스 스캔을 유도하도록 로직 수정.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31900" y="8661400"/>
            <a:ext cx="9525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97000" y="8877300"/>
            <a:ext cx="609600" cy="508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984500" y="8661400"/>
            <a:ext cx="19850100" cy="1828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3365500" y="8928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결과 (Result)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65500" y="9385300"/>
            <a:ext cx="15316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성능 개선: 평균 응답 속도 </a:t>
            </a:r>
            <a:r>
              <a:rPr lang="en-US" sz="2474" b="false" i="false" u="none" strike="noStrike">
                <a:solidFill>
                  <a:srgbClr val="568A35"/>
                </a:solidFill>
                <a:latin typeface="Pretendard SemiBold"/>
                <a:ea typeface="Pretendard SemiBold"/>
                <a:cs typeface="Pretendard SemiBold"/>
              </a:rPr>
              <a:t>2.0s → 0.1s 미만 (약 95% 향상)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
사용자 경험: 성능 병목 해소로 인한 이용자 불만 제로화 및 서비스 만족도 상승
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19200" y="10858500"/>
            <a:ext cx="952500" cy="952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09700" y="11049000"/>
            <a:ext cx="5461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971800" y="10858500"/>
            <a:ext cx="19850100" cy="18288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352800" y="111252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회고 (Review)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52800" y="11620500"/>
            <a:ext cx="19329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쿼리 튜닝이라는 기술적 노력이 실제 서비스를 쓰는 사람들의 경험에 얼마나 큰 영향을 주는지 직접 느꼈습니다</a:t>
            </a:r>
          </a:p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이후로는 코드를 짜기 전에 데이터의 분포와 실행 계획을 먼저 살펴보며 분석적으로 접근하는 개발 습관을 갖게 되었습니다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8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1727200"/>
            <a:ext cx="222377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06600" y="812800"/>
            <a:ext cx="345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문제 해결 사례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711200"/>
            <a:ext cx="9398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32200" y="7632700"/>
            <a:ext cx="106426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99300" y="1079500"/>
            <a:ext cx="3517900" cy="571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913600" y="1117600"/>
            <a:ext cx="33528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241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58900" y="2451100"/>
            <a:ext cx="6985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84500" y="2324100"/>
            <a:ext cx="19850100" cy="1790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365500" y="30988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과정 중 API Key가 소스 코드에 하드코딩되어 외부로 노출될 수 있는 보안 취약점 발견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사소한 실수가 시스템 전체의 안정성과 신뢰도에 치명적인 영향을 줄 수 있는 상태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5500" y="25908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상황 (Problem)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9200" y="4470400"/>
            <a:ext cx="952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0" y="4648200"/>
            <a:ext cx="5842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84500" y="4470400"/>
            <a:ext cx="19850100" cy="179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365500" y="4737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원인 분석 (Analysis)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65500" y="52324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수동 코드 리뷰만으로는 수많은 소스 코드 내 난수 형태의 키 값을 완벽히 식별하기 어려움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단순 수정보다는 반복되는 보안 실수를 원천 차단할 수 있는 자동화된 탐지 프로세스 부재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1900" y="6629400"/>
            <a:ext cx="952500" cy="952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11300" y="6819900"/>
            <a:ext cx="3810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84500" y="6629400"/>
            <a:ext cx="19850100" cy="1663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3365500" y="6896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해결 접근 (Solution)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5500" y="73279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1. 스크립트 개발: 문자열의 무작위성을 측정하는 Shannon 엔트로피 알고리즘 기반 Python 스크립트 제작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2. 프로세스 적용: 제작한 스크립트를 팀 내 5개 공통 프로젝트의 보안 점검 단계에 정식 도입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31900" y="8661400"/>
            <a:ext cx="9525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97000" y="8877300"/>
            <a:ext cx="609600" cy="508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984500" y="8661400"/>
            <a:ext cx="19850100" cy="1828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3365500" y="8928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결과 (Result)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65500" y="9385300"/>
            <a:ext cx="153289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취약점 제거: 자동 탐지 스크립트를 통해 하드코딩된 </a:t>
            </a:r>
            <a:r>
              <a:rPr lang="en-US" sz="2608" b="false" i="false" u="none" strike="noStrike">
                <a:solidFill>
                  <a:srgbClr val="568A35"/>
                </a:solidFill>
                <a:latin typeface="Pretendard SemiBold"/>
                <a:ea typeface="Pretendard SemiBold"/>
                <a:cs typeface="Pretendard SemiBold"/>
              </a:rPr>
              <a:t>키 2건 추가 발견</a:t>
            </a: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및 노출 사전 차단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효율성 증대: 수동 점검 시간을 비약적으로 단축하며 팀 전체의 보안 수준 및 운영 신뢰도 제고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19200" y="10858500"/>
            <a:ext cx="952500" cy="952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09700" y="11049000"/>
            <a:ext cx="5461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971800" y="10858500"/>
            <a:ext cx="19850100" cy="18288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352800" y="111252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회고 (Review)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52800" y="11620500"/>
            <a:ext cx="19329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문제를 발견했을 때 임시방편에 그치지 않고, 시스템적으로 해결하려는 집요함이 조직에 어떤 긍정적인 변화를 주는지 경험했습니다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 개발자가 가진 작은 책임감이 실제 서비스의 안전을 지키는 가장 확실한 방어선이라는 사실을 배웠습니다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8FA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1727200"/>
            <a:ext cx="222377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06600" y="812800"/>
            <a:ext cx="345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문제 해결 사례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711200"/>
            <a:ext cx="939800" cy="93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32200" y="7632700"/>
            <a:ext cx="106426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1054100"/>
            <a:ext cx="3594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88200" y="1104900"/>
            <a:ext cx="3492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241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58900" y="2451100"/>
            <a:ext cx="6985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84500" y="2324100"/>
            <a:ext cx="19850100" cy="1790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365500" y="30988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기능상 오류는 없으나 체감 로딩 속도가 느려 사용자 경험이 저해됨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Google Analytics 분석 결과, 특정 구간에서 사용자가 비정상적으로 이탈하는 현상 확인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5500" y="25908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문제 상황 (Problem)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9200" y="4470400"/>
            <a:ext cx="952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0" y="4648200"/>
            <a:ext cx="5842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84500" y="4470400"/>
            <a:ext cx="19850100" cy="179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365500" y="4737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원인 분석 (Analysis)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65500" y="52324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Lighthouse 측정 결과, LCP 지표가 3.5초로 측정되어 성능 저하의 주된 원인임을 수치로 확인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다수의 고용량 이미지를 초기 로딩 시 한꺼번에 호출하는 비효율적인 구조 파악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1900" y="6629400"/>
            <a:ext cx="952500" cy="952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11300" y="6819900"/>
            <a:ext cx="3810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84500" y="6629400"/>
            <a:ext cx="19850100" cy="1663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3365500" y="6896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해결 접근 (Solution)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5500" y="7327900"/>
            <a:ext cx="153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1. 리소스 최적화: 이미지 포맷을 WebP로 변환하여 품질 손실 없이 리소스 크기 축소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2.</a:t>
            </a: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지연 로딩(Lazy Loading): Intersection Observer API를 활용해 뷰포트에 보이는 이미지만 로드하도록 구조 개선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31900" y="8661400"/>
            <a:ext cx="9525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97000" y="8877300"/>
            <a:ext cx="609600" cy="508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984500" y="8661400"/>
            <a:ext cx="19850100" cy="1828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3365500" y="89281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결과 (Result)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65500" y="9385300"/>
            <a:ext cx="15316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성능 지표 개선: LCP를 3.5초에서 2.1초로 약 </a:t>
            </a:r>
            <a:r>
              <a:rPr lang="en-US" sz="2474" b="false" i="false" u="none" strike="noStrike">
                <a:solidFill>
                  <a:srgbClr val="568A35"/>
                </a:solidFill>
                <a:latin typeface="Pretendard SemiBold"/>
                <a:ea typeface="Pretendard SemiBold"/>
                <a:cs typeface="Pretendard SemiBold"/>
              </a:rPr>
              <a:t>40% 이상 단축</a:t>
            </a:r>
            <a:br>
              <a:rPr lang="en-US" sz="2474" b="false" i="false" u="none" strike="noStrike">
                <a:solidFill>
                  <a:srgbClr val="568A35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UX 지표 개선: 로딩 속도 향상을 통해 실제 사용자 이탈률 약 15% 감소 성과 달성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19200" y="10858500"/>
            <a:ext cx="952500" cy="952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09700" y="11049000"/>
            <a:ext cx="5461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971800" y="10858500"/>
            <a:ext cx="19850100" cy="18288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352800" y="11125200"/>
            <a:ext cx="28067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36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회고 (Review)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52800" y="11620500"/>
            <a:ext cx="19329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사용자가 왜 서비스를 떠나는지 데이터로 직접 확인하며, 개발자의 기술적 선택이 비즈니스 지표에 얼마나 큰 영향을 주는지 깊이 깨달았습니다.
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단순히 화면을 그리는 것을 넘어, 데이터 기반으로 성능을 관리하는 것이 서비스 품질을 결정하는 핵심임을 배웠습니다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2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1727200"/>
            <a:ext cx="222377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59000" y="812800"/>
            <a:ext cx="345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팀 프로젝트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97500" y="1054100"/>
            <a:ext cx="5130800" cy="5969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8719800" y="1092200"/>
            <a:ext cx="46101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73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2023.01.03 ~ 2023.02.17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86400" y="1079500"/>
            <a:ext cx="5334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" y="736600"/>
            <a:ext cx="8382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2298700"/>
            <a:ext cx="12928600" cy="1076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6184900"/>
            <a:ext cx="122301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727200" y="2946400"/>
            <a:ext cx="81407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0" b="false" i="false" u="none" strike="noStrike">
                <a:solidFill>
                  <a:srgbClr val="267BDE"/>
                </a:solidFill>
                <a:latin typeface="Pretendard Bold"/>
                <a:ea typeface="Pretendard Bold"/>
                <a:cs typeface="Pretendard Bold"/>
              </a:rPr>
              <a:t>PLANIT </a:t>
            </a:r>
            <a:r>
              <a:rPr lang="en-US" sz="1936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(삼성 청년 SW 아카데미 공통프로젝트 </a:t>
            </a:r>
            <a:r>
              <a:rPr lang="en-US" sz="1936" b="false" i="false" u="none" strike="noStrike">
                <a:solidFill>
                  <a:srgbClr val="FFCD4A"/>
                </a:solidFill>
                <a:latin typeface="Pretendard Bold"/>
                <a:ea typeface="Pretendard Bold"/>
                <a:cs typeface="Pretendard Bold"/>
              </a:rPr>
              <a:t>우수상</a:t>
            </a:r>
            <a:r>
              <a:rPr lang="en-US" sz="1936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200" y="3759200"/>
            <a:ext cx="1256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친구들과 여행 일정을 함께 계획하고 실시간으로 의견을 주고받는 서비스
기존 여행 계획 시 여러 앱을 오가야 했던 번거로움을 해결하고, 실시간 통신 기술을 활용해 팬더믹 시기에 안전하게 집에서 여행 계획을 짤 수 있습니다.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5700" y="5295900"/>
            <a:ext cx="16256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TEAM SIZE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5000" y="5689600"/>
            <a:ext cx="27813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6명 (Back 3, Front 3)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26300" y="5295900"/>
            <a:ext cx="13208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MY ROLE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5400" y="5689600"/>
            <a:ext cx="30226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BackEnd 개발, DB 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87100" y="5295900"/>
            <a:ext cx="2209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CONTRIBUTION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91900" y="5689600"/>
            <a:ext cx="1587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기여도 40%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9500" y="6756400"/>
            <a:ext cx="2794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핵심 기능 및 담당 업무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8000" y="6781800"/>
            <a:ext cx="381000" cy="381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349500" y="7467600"/>
            <a:ext cx="111887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실시간 알림, 채팅</a:t>
            </a: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: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WebSocket(STOMP)을 활용하여 참여자 간 실시간 일정 공유 및 소통 기능 구현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" y="7493000"/>
            <a:ext cx="355600" cy="355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349500" y="8178800"/>
            <a:ext cx="89154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사용자 인증 시스템: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Spring Boot 기반의 회원가입 및 보안 필터 적용
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" y="8178800"/>
            <a:ext cx="355600" cy="3556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349500" y="8890000"/>
            <a:ext cx="89154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협업 기능 API: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방 생성, 투표 기능과 같은 일정 관리 API 개발
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" y="8902700"/>
            <a:ext cx="355600" cy="3556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2349500" y="9639300"/>
            <a:ext cx="89154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인프라 구축:</a:t>
            </a:r>
            <a:r>
              <a:rPr lang="en-US" sz="2208" b="false" i="false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Docker와 Jenkins를 활용한 배포 자동화 환경 및 Nginx 설정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7200" y="9639300"/>
            <a:ext cx="355600" cy="3556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2286000" y="10401300"/>
            <a:ext cx="2794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Tech Stack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" y="10426700"/>
            <a:ext cx="482600" cy="381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09800" y="11049000"/>
            <a:ext cx="1104900" cy="495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2387600" y="11112500"/>
            <a:ext cx="863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Java 8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441700" y="11049000"/>
            <a:ext cx="1460500" cy="4953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3530600" y="11112500"/>
            <a:ext cx="1447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SpringBoot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041900" y="11049000"/>
            <a:ext cx="1714500" cy="4953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5232400" y="11125200"/>
            <a:ext cx="1473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WebSocket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896100" y="11049000"/>
            <a:ext cx="825500" cy="4953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048500" y="11112500"/>
            <a:ext cx="55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JPA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848600" y="11049000"/>
            <a:ext cx="1155700" cy="4953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026400" y="11125200"/>
            <a:ext cx="1028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MySQL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09800" y="11696700"/>
            <a:ext cx="1155700" cy="4953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2387600" y="11760200"/>
            <a:ext cx="1028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MySQL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492500" y="11696700"/>
            <a:ext cx="1155700" cy="4953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3683000" y="11760200"/>
            <a:ext cx="1028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Docker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775200" y="11696700"/>
            <a:ext cx="1155700" cy="4953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4965700" y="11760200"/>
            <a:ext cx="1028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1" b="false" i="false" u="none" strike="noStrike">
                <a:solidFill>
                  <a:srgbClr val="267BDE"/>
                </a:solidFill>
                <a:latin typeface="Pretendard SemiBold"/>
                <a:ea typeface="Pretendard SemiBold"/>
                <a:cs typeface="Pretendard SemiBold"/>
              </a:rPr>
              <a:t>Jenkins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732000" y="2298700"/>
            <a:ext cx="8496300" cy="10769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227300" y="2946400"/>
            <a:ext cx="469900" cy="4699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15557500" y="2946400"/>
            <a:ext cx="3467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12" b="false" i="false" u="none" strike="noStrike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Repository Preview</a:t>
            </a:r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595600" y="6438900"/>
            <a:ext cx="6540500" cy="8382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018000" y="6654800"/>
            <a:ext cx="406400" cy="406400"/>
          </a:xfrm>
          <a:prstGeom prst="rect">
            <a:avLst/>
          </a:prstGeom>
        </p:spPr>
      </p:pic>
      <p:sp>
        <p:nvSpPr>
          <p:cNvPr name="TextBox 51" id="51">
            <a:hlinkClick r:id="rId23" tooltip="https://github.com/sksn12/PLANIT"/>
          </p:cNvPr>
          <p:cNvSpPr txBox="true"/>
          <p:nvPr/>
        </p:nvSpPr>
        <p:spPr>
          <a:xfrm rot="0">
            <a:off x="17386300" y="6680200"/>
            <a:ext cx="33782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88" b="true" i="false" u="sng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GitHub 저장소 바로가기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227300" y="7670800"/>
            <a:ext cx="77851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3" b="false" i="false" u="none" strike="noStrike">
                <a:solidFill>
                  <a:srgbClr val="267BDE"/>
                </a:solidFill>
                <a:latin typeface="Pretendard Bold"/>
                <a:ea typeface="Pretendard Bold"/>
                <a:cs typeface="Pretendard Bold"/>
              </a:rPr>
              <a:t>그 외 프로젝트 </a:t>
            </a:r>
            <a:r>
              <a:rPr lang="en-US" sz="1803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(깃 버튼을 누르면 해당 프로젝트의 리드미로 연결됩니다.)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5595600" y="3746500"/>
            <a:ext cx="6540500" cy="25273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595600" y="8445500"/>
            <a:ext cx="6540500" cy="1866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1082000" y="9169400"/>
            <a:ext cx="723900" cy="7620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1196300" y="9321800"/>
            <a:ext cx="482600" cy="469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595600" y="10553700"/>
            <a:ext cx="6540500" cy="1879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082000" y="11277600"/>
            <a:ext cx="723900" cy="7620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1196300" y="11417300"/>
            <a:ext cx="482600" cy="46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